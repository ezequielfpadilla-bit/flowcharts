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WvzeMm_LRX99ccOHi6auldEV48NHT6TA/edit?usp=sharing&amp;ouid=113633208869727990526&amp;rtpof=true&amp;sd=tr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90504" y="4006655"/>
            <a:ext cx="2743200" cy="2759905"/>
          </a:xfrm>
          <a:prstGeom prst="rect">
            <a:avLst/>
          </a:prstGeom>
          <a:solidFill>
            <a:srgbClr val="F2F4F7"/>
          </a:solidFill>
          <a:ln w="9525" cap="flat" cmpd="sng">
            <a:solidFill>
              <a:srgbClr val="D0D5DD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365760" y="3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1D2939"/>
                </a:solidFill>
                <a:latin typeface="Trebuchet MS"/>
                <a:ea typeface="Trebuchet MS"/>
                <a:cs typeface="Trebuchet MS"/>
                <a:sym typeface="Trebuchet MS"/>
              </a:rPr>
              <a:t>S-1 Production Flowchart</a:t>
            </a:r>
            <a:r>
              <a:rPr lang="en-US" sz="2000">
                <a:solidFill>
                  <a:srgbClr val="667085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800" b="1">
                <a:solidFill>
                  <a:srgbClr val="667085"/>
                </a:solidFill>
                <a:latin typeface="Trebuchet MS"/>
                <a:ea typeface="Trebuchet MS"/>
                <a:cs typeface="Trebuchet MS"/>
                <a:sym typeface="Trebuchet MS"/>
              </a:rPr>
              <a:t>—  Oil &amp; Gas MLP IPO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940016" y="66824"/>
            <a:ext cx="28557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VDR Captain: </a:t>
            </a:r>
            <a:r>
              <a:rPr lang="en-US" sz="1800" b="1" i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Ezequiel Padilla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91440" y="556030"/>
            <a:ext cx="2743200" cy="3368506"/>
          </a:xfrm>
          <a:prstGeom prst="rect">
            <a:avLst/>
          </a:prstGeom>
          <a:solidFill>
            <a:srgbClr val="F2F4F7"/>
          </a:solidFill>
          <a:ln w="9525" cap="flat" cmpd="sng">
            <a:solidFill>
              <a:srgbClr val="D0D5DD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27664" y="1095168"/>
            <a:ext cx="2497248" cy="222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An MLP (Master Limited Partnership)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is a publicly traded partnership — not a corporation — that typically owns midstream oil &amp; gas infrastructure. Pass-through tax; K-1s, not 1099s.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An S-1</a:t>
            </a:r>
            <a:r>
              <a:rPr lang="en-US" sz="13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is the SEC registration statement required to IPO. It's a package: prospectus + exhibits + audited financials + legal opinions.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This flowchart maps the S-1 full production process</a:t>
            </a:r>
            <a:r>
              <a:rPr lang="en-US" sz="1300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: 76 work steps, 8 professional roles, ~4-6 months.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60962" y="4001209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2B2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0072B2"/>
                </a:solidFill>
                <a:latin typeface="Trebuchet MS"/>
                <a:ea typeface="Trebuchet MS"/>
                <a:cs typeface="Trebuchet MS"/>
                <a:sym typeface="Trebuchet MS"/>
              </a:rPr>
              <a:t>LLM OPPORTUNITY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6784" y="4374359"/>
            <a:ext cx="2386584" cy="457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6784" y="4374356"/>
            <a:ext cx="620512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5030" y="4440826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26%</a:t>
            </a:r>
            <a:r>
              <a:rPr lang="en-US" sz="18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6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20 steps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76784" y="4708113"/>
            <a:ext cx="23865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Fully LLM-Capable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76784" y="5015491"/>
            <a:ext cx="2386584" cy="457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6784" y="5015491"/>
            <a:ext cx="906902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60962" y="5097965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2B2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0072B2"/>
                </a:solidFill>
                <a:latin typeface="Trebuchet MS"/>
                <a:ea typeface="Trebuchet MS"/>
                <a:cs typeface="Trebuchet MS"/>
                <a:sym typeface="Trebuchet MS"/>
              </a:rPr>
              <a:t>38%</a:t>
            </a:r>
            <a:r>
              <a:rPr lang="en-US" sz="18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6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29 steps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0744" y="5362964"/>
            <a:ext cx="2696776" cy="12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Hybrid </a:t>
            </a:r>
            <a:r>
              <a:rPr lang="en-US" sz="13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(LLM drafts, human reviews)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76784" y="5639036"/>
            <a:ext cx="2386584" cy="457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76784" y="5639036"/>
            <a:ext cx="596646" cy="457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76784" y="5737866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9F00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E69F00"/>
                </a:solidFill>
                <a:latin typeface="Trebuchet MS"/>
                <a:ea typeface="Trebuchet MS"/>
                <a:cs typeface="Trebuchet MS"/>
                <a:sym typeface="Trebuchet MS"/>
              </a:rPr>
              <a:t>25%</a:t>
            </a:r>
            <a:r>
              <a:rPr lang="en-US" sz="17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5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19 steps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99690" y="5936920"/>
            <a:ext cx="23865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76784" y="6227412"/>
            <a:ext cx="2386584" cy="457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76784" y="6227412"/>
            <a:ext cx="262524" cy="45720"/>
          </a:xfrm>
          <a:prstGeom prst="rect">
            <a:avLst/>
          </a:prstGeom>
          <a:solidFill>
            <a:srgbClr val="98A2B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276784" y="6291068"/>
            <a:ext cx="23865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1700"/>
              <a:buFont typeface="Trebuchet MS"/>
              <a:buNone/>
            </a:pPr>
            <a:r>
              <a:rPr lang="en-US" sz="1700" b="1">
                <a:solidFill>
                  <a:srgbClr val="98A2B3"/>
                </a:solidFill>
                <a:latin typeface="Trebuchet MS"/>
                <a:ea typeface="Trebuchet MS"/>
                <a:cs typeface="Trebuchet MS"/>
                <a:sym typeface="Trebuchet MS"/>
              </a:rPr>
              <a:t>11%</a:t>
            </a:r>
            <a:r>
              <a:rPr lang="en-US" sz="14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5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8 steps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267992" y="6552381"/>
            <a:ext cx="238658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External (SEC, Exchange)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63240" y="524025"/>
            <a:ext cx="893064" cy="3657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06324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P1: VDR &amp;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992880" y="524025"/>
            <a:ext cx="893064" cy="36576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99288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P2: S-1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922520" y="524025"/>
            <a:ext cx="893064" cy="3657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92252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P3: Pre-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852160" y="524025"/>
            <a:ext cx="893064" cy="36576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85216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P4: SEC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781800" y="524025"/>
            <a:ext cx="893064" cy="365760"/>
          </a:xfrm>
          <a:prstGeom prst="rect">
            <a:avLst/>
          </a:prstGeom>
          <a:solidFill>
            <a:srgbClr val="CC79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78180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P5: Pre-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Effective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711440" y="524025"/>
            <a:ext cx="893064" cy="365760"/>
          </a:xfrm>
          <a:prstGeom prst="rect">
            <a:avLst/>
          </a:prstGeom>
          <a:solidFill>
            <a:srgbClr val="56B4E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711440" y="524025"/>
            <a:ext cx="893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P6: 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Effective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777801" y="133467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2B2"/>
              </a:buClr>
              <a:buSzPts val="1600"/>
              <a:buFont typeface="Trebuchet MS"/>
              <a:buNone/>
            </a:pPr>
            <a:r>
              <a:rPr lang="en-US" sz="1600" b="1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" action="ppaction://noaction"/>
              </a:rPr>
              <a:t>Open Flowchart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645920" y="2071473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76 work steps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645920" y="2548011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12 decisions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645920" y="3033347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4054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6 phases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637125" y="393544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RACI Matrix: </a:t>
            </a: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S1_RACI_Matrix.xlsx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940016" y="567984"/>
            <a:ext cx="3063240" cy="2769575"/>
          </a:xfrm>
          <a:prstGeom prst="rect">
            <a:avLst/>
          </a:prstGeom>
          <a:solidFill>
            <a:srgbClr val="F2F4F7"/>
          </a:solidFill>
          <a:ln w="9525" cap="flat" cmpd="sng">
            <a:solidFill>
              <a:srgbClr val="D0D5DD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049744" y="657672"/>
            <a:ext cx="2843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2B2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0072B2"/>
                </a:solidFill>
                <a:latin typeface="Trebuchet MS"/>
                <a:ea typeface="Trebuchet MS"/>
                <a:cs typeface="Trebuchet MS"/>
                <a:sym typeface="Trebuchet MS"/>
              </a:rPr>
              <a:t>ROLES (8)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049744" y="995295"/>
            <a:ext cx="228600" cy="18288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351496" y="977851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Company Counsel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974558" y="98818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44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9049744" y="1253499"/>
            <a:ext cx="228600" cy="18288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351496" y="1209679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Issuer (Management)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964496" y="1231885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10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49744" y="1511703"/>
            <a:ext cx="228600" cy="182880"/>
          </a:xfrm>
          <a:prstGeom prst="rect">
            <a:avLst/>
          </a:prstGeom>
          <a:solidFill>
            <a:srgbClr val="56B4E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351496" y="1494257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Underwriters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983350" y="148066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 step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049744" y="1769907"/>
            <a:ext cx="228600" cy="18288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351496" y="1761254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UW Counsel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983350" y="177657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5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049744" y="2028111"/>
            <a:ext cx="228600" cy="182880"/>
          </a:xfrm>
          <a:prstGeom prst="rect">
            <a:avLst/>
          </a:prstGeom>
          <a:solidFill>
            <a:srgbClr val="F0E4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351496" y="2001873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Accountants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983350" y="2025351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5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049744" y="2286315"/>
            <a:ext cx="228600" cy="1828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351496" y="2268871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Reserve Engineer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983350" y="2302409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 step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049744" y="2597271"/>
            <a:ext cx="228600" cy="182880"/>
          </a:xfrm>
          <a:prstGeom prst="rect">
            <a:avLst/>
          </a:prstGeom>
          <a:solidFill>
            <a:srgbClr val="CC79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351496" y="2571035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Tax Counsel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983350" y="257004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3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049744" y="2873059"/>
            <a:ext cx="228600" cy="18288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351496" y="2864407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D2939"/>
                </a:solidFill>
                <a:latin typeface="Calibri"/>
                <a:ea typeface="Calibri"/>
                <a:cs typeface="Calibri"/>
                <a:sym typeface="Calibri"/>
              </a:rPr>
              <a:t>SEC / FINRA / Exchange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983350" y="2865941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7 steps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940016" y="3474720"/>
            <a:ext cx="3063240" cy="3291840"/>
          </a:xfrm>
          <a:prstGeom prst="rect">
            <a:avLst/>
          </a:prstGeom>
          <a:solidFill>
            <a:srgbClr val="F2F4F7"/>
          </a:solidFill>
          <a:ln w="9525" cap="flat" cmpd="sng">
            <a:solidFill>
              <a:srgbClr val="D0D5DD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049744" y="3546816"/>
            <a:ext cx="284378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2B2"/>
              </a:buClr>
              <a:buSzPts val="1050"/>
              <a:buFont typeface="Trebuchet MS"/>
              <a:buNone/>
            </a:pPr>
            <a:r>
              <a:rPr lang="en-US" sz="1050" b="1">
                <a:solidFill>
                  <a:srgbClr val="0072B2"/>
                </a:solidFill>
                <a:latin typeface="Trebuchet MS"/>
                <a:ea typeface="Trebuchet MS"/>
                <a:cs typeface="Trebuchet MS"/>
                <a:sym typeface="Trebuchet MS"/>
              </a:rPr>
              <a:t>KEY TERMS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049744" y="3822192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MLP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Master Limited Partnership; pass-through tax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049744" y="4041648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S-1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SEC registration statement for IPO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049744" y="4261104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VDR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Virtual Data Room; central doc repository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049744" y="4480560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DRS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Draft Registration Statement (confidential)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049744" y="4700016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EDGAR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SEC electronic filing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049744" y="4919472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IDR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Incentive Distribution Rights (GP economics)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049744" y="5138928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MQD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Minimum Quarterly Distribution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049744" y="5358384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EGC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Emerging Growth Company (reduced disclosure)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049744" y="5577840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Red herring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Preliminary prospectus (pre-pricing)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049744" y="5797296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Gun-jumping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Illegal pre-IPO marketing (Sec Act s5)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049744" y="6016752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Section 11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Strict liability for S-1 misstatements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049744" y="6236208"/>
            <a:ext cx="28437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nsolas"/>
              <a:buNone/>
            </a:pPr>
            <a:r>
              <a:rPr lang="en-US" sz="1000" b="1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Comfort ltr</a:t>
            </a:r>
            <a:r>
              <a:rPr lang="en-US" sz="1000">
                <a:solidFill>
                  <a:srgbClr val="344054"/>
                </a:solidFill>
                <a:latin typeface="Calibri"/>
                <a:ea typeface="Calibri"/>
                <a:cs typeface="Calibri"/>
                <a:sym typeface="Calibri"/>
              </a:rPr>
              <a:t>  Auditor verification letter to UWs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503985" y="1361047"/>
            <a:ext cx="668215" cy="2933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6991" y="902938"/>
            <a:ext cx="1737350" cy="587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Ezequiel Padilla</dc:creator>
  <cp:lastModifiedBy>Ezequiel Padilla</cp:lastModifiedBy>
  <cp:revision>1</cp:revision>
  <dcterms:modified xsi:type="dcterms:W3CDTF">2026-02-23T18:27:42Z</dcterms:modified>
</cp:coreProperties>
</file>